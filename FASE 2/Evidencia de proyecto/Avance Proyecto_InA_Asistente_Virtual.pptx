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embeddedFontLst>
    <p:embeddedFont>
      <p:font typeface="Noto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5b2Enob/gYyZY5xi7258NoVG3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NotoSans-bold.fntdata"/><Relationship Id="rId12" Type="http://schemas.openxmlformats.org/officeDocument/2006/relationships/font" Target="fonts/Noto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otoSans-boldItalic.fntdata"/><Relationship Id="rId14" Type="http://schemas.openxmlformats.org/officeDocument/2006/relationships/font" Target="fonts/NotoSans-italic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9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10" Type="http://schemas.openxmlformats.org/officeDocument/2006/relationships/image" Target="../media/image25.png"/><Relationship Id="rId9" Type="http://schemas.openxmlformats.org/officeDocument/2006/relationships/image" Target="../media/image22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26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23.png"/><Relationship Id="rId8" Type="http://schemas.openxmlformats.org/officeDocument/2006/relationships/image" Target="../media/image3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2.png"/><Relationship Id="rId4" Type="http://schemas.openxmlformats.org/officeDocument/2006/relationships/image" Target="../media/image7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Relationship Id="rId7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7.png"/><Relationship Id="rId5" Type="http://schemas.openxmlformats.org/officeDocument/2006/relationships/image" Target="../media/image30.png"/><Relationship Id="rId6" Type="http://schemas.openxmlformats.org/officeDocument/2006/relationships/image" Target="../media/image33.png"/><Relationship Id="rId7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5080" y="285840"/>
            <a:ext cx="2142720" cy="52704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285840" y="1959120"/>
            <a:ext cx="1593360" cy="46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Proyecto 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879560" y="1959120"/>
            <a:ext cx="595080" cy="46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B800"/>
                </a:solidFill>
                <a:latin typeface="Noto Sans"/>
                <a:ea typeface="Noto Sans"/>
                <a:cs typeface="Noto Sans"/>
                <a:sym typeface="Noto Sans"/>
              </a:rPr>
              <a:t>InA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475000" y="1959120"/>
            <a:ext cx="97560" cy="46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: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85840" y="2593080"/>
            <a:ext cx="8572320" cy="29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0"/>
              <a:buFont typeface="Arial"/>
              <a:buNone/>
            </a:pPr>
            <a:r>
              <a:rPr b="0" i="0" lang="en-US" sz="1580" u="none" cap="none" strike="noStrike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Asistente Virtual Inteligente</a:t>
            </a:r>
            <a:endParaRPr b="0" i="0" sz="15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85840" y="3178800"/>
            <a:ext cx="857232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Proyecto de Título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85840" y="3378960"/>
            <a:ext cx="857232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Ingeniería en Informática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85840" y="3579120"/>
            <a:ext cx="857232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Duoc UC - Sede Plaza Norte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85840" y="4071960"/>
            <a:ext cx="2345400" cy="21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Presentado por: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85840" y="4286160"/>
            <a:ext cx="2345400" cy="21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Diego Pinto - die.pintob@duocuc.cl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285840" y="4500720"/>
            <a:ext cx="2345400" cy="21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Jorge Arias - jorg.ariasc@duocuc.cl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" name="Google Shape;3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6800" y="285840"/>
            <a:ext cx="1071360" cy="2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285840" y="285840"/>
            <a:ext cx="3335040" cy="47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8495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0"/>
              <a:buFont typeface="Arial"/>
              <a:buNone/>
            </a:pPr>
            <a:r>
              <a:rPr b="1" i="0" lang="en-US" sz="2020" u="none" cap="none" strike="noStrike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Problemática Identificada</a:t>
            </a:r>
            <a:endParaRPr b="0" i="0" sz="20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" name="Google Shape;3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840" y="1271520"/>
            <a:ext cx="171000" cy="1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564480" y="1257480"/>
            <a:ext cx="379296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Alto volumen de consultas </a:t>
            </a:r>
            <a:r>
              <a:rPr b="1" lang="en-US" sz="1050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frecuentes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64480" y="1457280"/>
            <a:ext cx="379296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El Punto Estudiantil gestiona numerosas consultas repetitivas sobre horarios, TNE, y trámites administrativos.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" name="Google Shape;4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840" y="2014560"/>
            <a:ext cx="171000" cy="1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564480" y="2000160"/>
            <a:ext cx="379296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Saturación en horarios pico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64480" y="2200320"/>
            <a:ext cx="379296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Tiempos de espera prolongados durante períodos de alta demanda y disponibilidad limitada del personal.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4" name="Google Shape;4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5840" y="2757600"/>
            <a:ext cx="171000" cy="1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564480" y="2743200"/>
            <a:ext cx="379296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Barreras de accesibilidad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64480" y="2943360"/>
            <a:ext cx="379296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Dificultades para estudiantes con discapacidades o limitaciones con el idioma español.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7" name="Google Shape;47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5840" y="3500280"/>
            <a:ext cx="149760" cy="1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542880" y="3486240"/>
            <a:ext cx="381456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Limitaciones de horario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42880" y="3686040"/>
            <a:ext cx="381456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Falta de atención fuera del horario laboral del personal administrativo.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64700" y="1038138"/>
            <a:ext cx="3124200" cy="30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375" y="61650"/>
            <a:ext cx="9143642" cy="5143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" name="Google Shape;5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6800" y="285840"/>
            <a:ext cx="1071360" cy="2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285840" y="285840"/>
            <a:ext cx="2464560" cy="47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8495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0"/>
              <a:buFont typeface="Arial"/>
              <a:buNone/>
            </a:pPr>
            <a:r>
              <a:rPr b="1" i="0" lang="en-US" sz="2020" u="none" cap="none" strike="noStrike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Solución Propuesta</a:t>
            </a:r>
            <a:endParaRPr b="0" i="0" sz="20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285840" y="1578600"/>
            <a:ext cx="396360" cy="31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B800"/>
                </a:solidFill>
                <a:latin typeface="Noto Sans"/>
                <a:ea typeface="Noto Sans"/>
                <a:cs typeface="Noto Sans"/>
                <a:sym typeface="Noto Sans"/>
              </a:rPr>
              <a:t>InA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82560" y="1578600"/>
            <a:ext cx="2248560" cy="31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: Intelligent Assistant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285840" y="2050200"/>
            <a:ext cx="4071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Asistente virtual inteligente instalado en un kiosco interactivo ubicado dentro o cerca del Punto Estudiantil. 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2" name="Google Shape;6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840" y="2721600"/>
            <a:ext cx="178200" cy="14256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571680" y="2693160"/>
            <a:ext cx="262224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Interfaz conversacional intuitiva y amigable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4" name="Google Shape;6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840" y="3029040"/>
            <a:ext cx="142560" cy="14256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/>
          <p:nvPr/>
        </p:nvSpPr>
        <p:spPr>
          <a:xfrm>
            <a:off x="535680" y="3000240"/>
            <a:ext cx="266292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Disponible 24/7 para consultas estudiantiles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6" name="Google Shape;6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5840" y="3336120"/>
            <a:ext cx="106920" cy="14256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500040" y="3307680"/>
            <a:ext cx="219744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Ubicación estratégica de fácil acceso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8" name="Google Shape;68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5840" y="3643200"/>
            <a:ext cx="142560" cy="14256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/>
          <p:nvPr/>
        </p:nvSpPr>
        <p:spPr>
          <a:xfrm>
            <a:off x="535680" y="3614760"/>
            <a:ext cx="260136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Basado en tecnología de Machine Learning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98600" y="977625"/>
            <a:ext cx="4605624" cy="307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" name="Google Shape;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640" cy="5157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" name="Google Shape;7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6800" y="285840"/>
            <a:ext cx="1071360" cy="2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/>
          <p:nvPr/>
        </p:nvSpPr>
        <p:spPr>
          <a:xfrm>
            <a:off x="285840" y="285840"/>
            <a:ext cx="3511440" cy="47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8495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0"/>
              <a:buFont typeface="Arial"/>
              <a:buNone/>
            </a:pPr>
            <a:r>
              <a:rPr b="1" i="0" lang="en-US" sz="2020" u="none" cap="none" strike="noStrike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Características y Beneficios</a:t>
            </a:r>
            <a:endParaRPr b="0" i="0" sz="20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9" name="Google Shape;7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840" y="971640"/>
            <a:ext cx="171000" cy="1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4"/>
          <p:cNvSpPr/>
          <p:nvPr/>
        </p:nvSpPr>
        <p:spPr>
          <a:xfrm>
            <a:off x="564480" y="957240"/>
            <a:ext cx="3792960" cy="21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Atención Ininterrumpida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64480" y="1207440"/>
            <a:ext cx="3792960" cy="38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Respuestas inmediatas a consultas frecuentes 24/7, incluso fuera del horario de atención regular.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2" name="Google Shape;8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840" y="1750320"/>
            <a:ext cx="213840" cy="1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/>
          <p:nvPr/>
        </p:nvSpPr>
        <p:spPr>
          <a:xfrm>
            <a:off x="607320" y="1735920"/>
            <a:ext cx="3750120" cy="21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Interacción por Voz y Texto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07320" y="1986120"/>
            <a:ext cx="3750120" cy="38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Los estudiantes pueden comunicarse hablando o escribiendo según su preferencia.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5" name="Google Shape;85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5840" y="2529000"/>
            <a:ext cx="213840" cy="1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4"/>
          <p:cNvSpPr/>
          <p:nvPr/>
        </p:nvSpPr>
        <p:spPr>
          <a:xfrm>
            <a:off x="607320" y="2514600"/>
            <a:ext cx="3750120" cy="21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Soporte Multilingüe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607320" y="2764800"/>
            <a:ext cx="3750120" cy="38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Capacidad de entender y responder en varios idiomas para ayudar a estudiantes extranjeros.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8" name="Google Shape;8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5840" y="3307680"/>
            <a:ext cx="171000" cy="1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564480" y="3293280"/>
            <a:ext cx="3792960" cy="21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Filtro de Contenido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64480" y="3543480"/>
            <a:ext cx="3792960" cy="38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Utiliza Machine Learning para asegurar que las consultas están relacionadas con temas institucionales.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1" name="Google Shape;91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85840" y="4086360"/>
            <a:ext cx="171000" cy="1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564480" y="4071960"/>
            <a:ext cx="3792960" cy="21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Autogestión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64480" y="4321800"/>
            <a:ext cx="3792960" cy="38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Reinicio automático después de inactividad o satisfacción del usuario, garantizando privacidad.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65700" y="1304925"/>
            <a:ext cx="3810000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0" name="Google Shape;10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640" cy="52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1" name="Google Shape;10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6800" y="285840"/>
            <a:ext cx="1071360" cy="2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"/>
          <p:cNvSpPr/>
          <p:nvPr/>
        </p:nvSpPr>
        <p:spPr>
          <a:xfrm>
            <a:off x="285840" y="285840"/>
            <a:ext cx="3188880" cy="47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8495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0"/>
              <a:buFont typeface="Arial"/>
              <a:buNone/>
            </a:pPr>
            <a:r>
              <a:rPr b="1" i="0" lang="en-US" sz="2020" u="none" cap="none" strike="noStrike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Enfoque en Accesibilidad</a:t>
            </a:r>
            <a:endParaRPr b="0" i="0" sz="20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285840" y="957240"/>
            <a:ext cx="40716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InA está diseñado para eliminar barreras y hacer que la información sea accesible para todos los estudiantes, independientemente de sus capacidades o idioma. 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4" name="Google Shape;10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840" y="1793160"/>
            <a:ext cx="192600" cy="1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/>
          <p:nvPr/>
        </p:nvSpPr>
        <p:spPr>
          <a:xfrm>
            <a:off x="585720" y="1778760"/>
            <a:ext cx="3771720" cy="21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Discapacidad Visual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85720" y="2028960"/>
            <a:ext cx="3771720" cy="38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Interfaz con alto contraste, opciones de audio y compatibilidad con lectores de pantalla.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7" name="Google Shape;10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840" y="2571840"/>
            <a:ext cx="171000" cy="1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"/>
          <p:cNvSpPr/>
          <p:nvPr/>
        </p:nvSpPr>
        <p:spPr>
          <a:xfrm>
            <a:off x="564480" y="2557440"/>
            <a:ext cx="3792960" cy="21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Discapacidad Auditiva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64480" y="2807640"/>
            <a:ext cx="3792960" cy="38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Interacción por texto y respuestas visuales para estudiantes con dificultades auditivas.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0" name="Google Shape;110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5840" y="3350520"/>
            <a:ext cx="171000" cy="1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/>
          <p:nvPr/>
        </p:nvSpPr>
        <p:spPr>
          <a:xfrm>
            <a:off x="564480" y="3336120"/>
            <a:ext cx="3792960" cy="21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Movilidad Reducida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64480" y="3586320"/>
            <a:ext cx="3792960" cy="38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Diseño físico adaptado para usuarios de sillas de ruedas y personas de diferentes estaturas.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3" name="Google Shape;113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5840" y="4129200"/>
            <a:ext cx="171000" cy="1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564480" y="4114800"/>
            <a:ext cx="3792960" cy="21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Barreras Lingüísticas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64480" y="4365000"/>
            <a:ext cx="3792960" cy="38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Soporte para múltiples idiomas, facilitando la comunicación para estudiantes extranjeros.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69350" y="1046850"/>
            <a:ext cx="2925026" cy="292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2" name="Google Shape;12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642" cy="52646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3" name="Google Shape;12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6800" y="285840"/>
            <a:ext cx="1071360" cy="2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/>
          <p:nvPr/>
        </p:nvSpPr>
        <p:spPr>
          <a:xfrm>
            <a:off x="285840" y="285840"/>
            <a:ext cx="3244320" cy="47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8495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0"/>
              <a:buFont typeface="Arial"/>
              <a:buNone/>
            </a:pPr>
            <a:r>
              <a:rPr b="1" lang="en-US" sz="2020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Avances y mejoras</a:t>
            </a:r>
            <a:endParaRPr b="0" i="0" sz="20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285840" y="957240"/>
            <a:ext cx="40716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Gracias a la colaboración con </a:t>
            </a:r>
            <a:r>
              <a:rPr lang="en-US" sz="1050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P</a:t>
            </a:r>
            <a:r>
              <a:rPr b="0" i="0" lang="en-US" sz="105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unto Estudiantil</a:t>
            </a:r>
            <a:r>
              <a:rPr lang="en-US" sz="1050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, hemos podido darla un avance e incluso mejorar la </a:t>
            </a:r>
            <a:r>
              <a:rPr lang="en-US" sz="1050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visión</a:t>
            </a:r>
            <a:r>
              <a:rPr lang="en-US" sz="1050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que </a:t>
            </a:r>
            <a:r>
              <a:rPr lang="en-US" sz="1050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teníamos</a:t>
            </a:r>
            <a:r>
              <a:rPr lang="en-US" sz="1050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como equipo al desarrollo e idea de InA.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6" name="Google Shape;12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840" y="1821600"/>
            <a:ext cx="171000" cy="1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/>
          <p:nvPr/>
        </p:nvSpPr>
        <p:spPr>
          <a:xfrm>
            <a:off x="564480" y="1778760"/>
            <a:ext cx="1952280" cy="25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  Implementaciones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71680" y="2143080"/>
            <a:ext cx="3785760" cy="38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lang="en-US" sz="939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Junto con los coordinadores hemos añadido cosas que inicialmente no </a:t>
            </a:r>
            <a:r>
              <a:rPr lang="en-US" sz="939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teníamos</a:t>
            </a:r>
            <a:r>
              <a:rPr lang="en-US" sz="939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considerado como: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71680" y="2529000"/>
            <a:ext cx="47880" cy="1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FFB800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91200" y="2529000"/>
            <a:ext cx="2062440" cy="1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lang="en-US" sz="939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Sistema de feedback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71680" y="2793240"/>
            <a:ext cx="47880" cy="1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FFB800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91200" y="2793240"/>
            <a:ext cx="2060280" cy="1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lang="en-US" sz="939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Seguimiento de consultas por estudiante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71680" y="3057480"/>
            <a:ext cx="47880" cy="1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FFB800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91200" y="3057480"/>
            <a:ext cx="1753560" cy="1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lang="en-US" sz="939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Acceso para los coordinadores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5" name="Google Shape;13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840" y="3507480"/>
            <a:ext cx="149760" cy="1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/>
          <p:nvPr/>
        </p:nvSpPr>
        <p:spPr>
          <a:xfrm>
            <a:off x="542880" y="3464640"/>
            <a:ext cx="1731960" cy="25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Mejoras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571680" y="3828960"/>
            <a:ext cx="3785760" cy="1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lang="en-US" sz="939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Para las mejoras se nos </a:t>
            </a:r>
            <a:r>
              <a:rPr lang="en-US" sz="939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encomendó</a:t>
            </a:r>
            <a:r>
              <a:rPr lang="en-US" sz="939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lo siguiente: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71743" y="4057545"/>
            <a:ext cx="480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FFB800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97625" y="4022650"/>
            <a:ext cx="1952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lang="en-US" sz="939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Mejoras en la interfaz principal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71680" y="4286160"/>
            <a:ext cx="47880" cy="1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FFB800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91200" y="4287150"/>
            <a:ext cx="23298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lang="en-US" sz="939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Sistema de </a:t>
            </a:r>
            <a:r>
              <a:rPr lang="en-US" sz="939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envío</a:t>
            </a:r>
            <a:r>
              <a:rPr lang="en-US" sz="939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de reportes por </a:t>
            </a:r>
            <a:r>
              <a:rPr lang="en-US" sz="939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correo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71680" y="4550400"/>
            <a:ext cx="480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FFB800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91188" y="4550400"/>
            <a:ext cx="13494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lang="en-US" sz="939">
                <a:latin typeface="Noto Sans"/>
                <a:ea typeface="Noto Sans"/>
                <a:cs typeface="Noto Sans"/>
                <a:sym typeface="Noto Sans"/>
              </a:rPr>
              <a:t>Menú</a:t>
            </a:r>
            <a:r>
              <a:rPr lang="en-US" sz="939">
                <a:latin typeface="Noto Sans"/>
                <a:ea typeface="Noto Sans"/>
                <a:cs typeface="Noto Sans"/>
                <a:sym typeface="Noto Sans"/>
              </a:rPr>
              <a:t> de Accesibilidad</a:t>
            </a:r>
            <a:endParaRPr i="0" sz="939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44" name="Google Shape;144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51747" y="957250"/>
            <a:ext cx="3585500" cy="282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642" cy="5811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1" name="Google Shape;15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6800" y="285840"/>
            <a:ext cx="1071360" cy="2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/>
          <p:nvPr/>
        </p:nvSpPr>
        <p:spPr>
          <a:xfrm>
            <a:off x="285840" y="285840"/>
            <a:ext cx="2847600" cy="47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8495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0"/>
              <a:buFont typeface="Arial"/>
              <a:buNone/>
            </a:pPr>
            <a:r>
              <a:rPr b="1" i="0" lang="en-US" sz="2020" u="none" cap="none" strike="noStrike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Conclusión </a:t>
            </a:r>
            <a:endParaRPr b="0" i="0" sz="20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136152" y="975250"/>
            <a:ext cx="3567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"/>
              <a:buFont typeface="Arial"/>
              <a:buNone/>
            </a:pPr>
            <a:r>
              <a:rPr b="1" i="0" lang="en-US" sz="1240" u="none" cap="none" strike="noStrike">
                <a:solidFill>
                  <a:srgbClr val="FFB800"/>
                </a:solidFill>
                <a:latin typeface="Noto Sans"/>
                <a:ea typeface="Noto Sans"/>
                <a:cs typeface="Noto Sans"/>
                <a:sym typeface="Noto Sans"/>
              </a:rPr>
              <a:t>InA</a:t>
            </a:r>
            <a:endParaRPr b="0" i="0" sz="12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357055" y="861078"/>
            <a:ext cx="64299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representa una solución innovadora que modernizará la atención estudiantil, mejorará  </a:t>
            </a:r>
            <a:endParaRPr sz="1240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485895" y="1254195"/>
            <a:ext cx="61722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la accesibilidad y optimizará los recursos del Punto Estudiantil, contribuyendo a una </a:t>
            </a:r>
            <a:endParaRPr b="0" i="0" sz="12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2840998" y="1647322"/>
            <a:ext cx="3462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experiencia educativa más inclusiva y eficiente. </a:t>
            </a:r>
            <a:endParaRPr b="0" i="0" sz="12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7" name="Google Shape;15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5760" y="2140200"/>
            <a:ext cx="356760" cy="285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/>
          <p:nvPr/>
        </p:nvSpPr>
        <p:spPr>
          <a:xfrm>
            <a:off x="571680" y="2533320"/>
            <a:ext cx="22857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Mejora de Servicio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571680" y="2818800"/>
            <a:ext cx="22857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Atención inmediata y continua para los estudiantes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0" name="Google Shape;16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29080" y="2140200"/>
            <a:ext cx="285480" cy="285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/>
          <p:nvPr/>
        </p:nvSpPr>
        <p:spPr>
          <a:xfrm>
            <a:off x="3429000" y="2533320"/>
            <a:ext cx="22857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Mayor Inclusión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429000" y="2818800"/>
            <a:ext cx="22857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Eliminación de barreras para todos los estudiantes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3" name="Google Shape;16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86760" y="2140200"/>
            <a:ext cx="285480" cy="285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/>
          <p:nvPr/>
        </p:nvSpPr>
        <p:spPr>
          <a:xfrm>
            <a:off x="6286680" y="2533320"/>
            <a:ext cx="22857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3366"/>
                </a:solidFill>
                <a:latin typeface="Noto Sans"/>
                <a:ea typeface="Noto Sans"/>
                <a:cs typeface="Noto Sans"/>
                <a:sym typeface="Noto Sans"/>
              </a:rPr>
              <a:t>Optimización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286680" y="2818800"/>
            <a:ext cx="22857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Liberación de recursos humanos para tareas complejas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2143080" y="4061880"/>
            <a:ext cx="4857480" cy="25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3474720" y="4435200"/>
            <a:ext cx="8460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449600" y="4435200"/>
            <a:ext cx="133164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t/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3493080" y="4663800"/>
            <a:ext cx="79344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-US" sz="939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2143080" y="4905000"/>
            <a:ext cx="4857480" cy="1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t/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2143080" y="5133600"/>
            <a:ext cx="4857480" cy="1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t/>
            </a:r>
            <a:endParaRPr b="0" i="0" sz="9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2025-08-24T06:29:02Z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